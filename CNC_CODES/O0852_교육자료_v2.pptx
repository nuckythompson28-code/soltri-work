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B82F6"/>
                </a:solidFill>
                <a:latin typeface="맑은 고딕"/>
              </a:rPr>
              <a:t>CNC 매크로 프로그램 교육자료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O0852 프로그램 완전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94A3B8"/>
                </a:solidFill>
                <a:latin typeface="맑은 고딕"/>
              </a:rPr>
              <a:t>링형 부품 자동 연속 가공 시스템  |  FANUC 매크로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프로그램 구조 및 흐름 이해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파라미터 입력 방법 및 변수 해설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가공 사이클 상세 분석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맑은 고딕"/>
              </a:rPr>
              <a:t>알람 코드 및 안전 주의사항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O0852 교육자료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24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97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전체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224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프로그램이 하는 일 한눈에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2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53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899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프로그램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532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4개 서브프로그램 관계도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7744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28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02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입력 파라미터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282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작업자가 수정하는 변수 (#101~#123)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311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905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소재별 이송속도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311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CN / RS / CM 자동 설정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8328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34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4086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고급 설정 &amp; 안전체크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43408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시스템 변수 및 검증 로직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8620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70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11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가공 사이클 상세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9370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면삭 → 스텝 → 챔퍼 → 절단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8912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399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414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오토링크 &amp; 잔재 가공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43992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자동 소재 인출 시스템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9204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428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9174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알람 코드표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9428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에러 번호별 원인과 대처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9496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457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42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기계별 M코드 매핑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44576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9대 기계 설정표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897880"/>
            <a:ext cx="54864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486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9232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맑은 고딕"/>
              </a:rPr>
              <a:t>작업자 주의사항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94868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안전 수칙 및 체크리스트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1. 전체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O0852는 어떤 프로그램인가?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515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E6B"/>
                </a:solidFill>
                <a:latin typeface="맑은 고딕"/>
              </a:rPr>
              <a:t>O0852는 CNC 선반에서 파이프 소재를 자동으로 연속 가공하여
링형 부품(부싱/베어링류)을 대량 생산하는 FANUC 매크로 프로그램입니다.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651760" cy="1645920"/>
          </a:xfrm>
          <a:prstGeom prst="roundRect">
            <a:avLst/>
          </a:prstGeom>
          <a:noFill/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26517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매크로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변수 입력만으로
소재/치수/조건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926080"/>
            <a:ext cx="2651760" cy="1645920"/>
          </a:xfrm>
          <a:prstGeom prst="roundRect">
            <a:avLst/>
          </a:prstGeom>
          <a:noFill/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2926080"/>
            <a:ext cx="26517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연속 가공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면삭→스텝→챔퍼→절단
사이클 자동 반복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2651760" cy="1645920"/>
          </a:xfrm>
          <a:prstGeom prst="roundRect">
            <a:avLst/>
          </a:prstGeom>
          <a:noFill/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265176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오토링크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소재 부족 시
자동 인출 후 재가공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926080"/>
            <a:ext cx="2651760" cy="1645920"/>
          </a:xfrm>
          <a:prstGeom prst="roundRect">
            <a:avLst/>
          </a:prstGeom>
          <a:noFill/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2926080"/>
            <a:ext cx="265176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999232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안전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2044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30개 이상 알람으로
입력 오류 사전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60"/>
            <a:ext cx="11247120" cy="1554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현재 설정값 기준 가공 요약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5440680"/>
          <a:ext cx="105156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27432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완성품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생산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규격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CN, OD70 × ID56</a:t>
                      </a:r>
                    </a:p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길이 543mm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OD64.9 × ID58.3</a:t>
                      </a:r>
                    </a:p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길이 7.823mm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1개당 9.843mm 소비</a:t>
                      </a:r>
                    </a:p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인출당 약 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2. 프로그램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4개 서브프로그램의 호출 관계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286000" cy="2743200"/>
          </a:xfrm>
          <a:prstGeom prst="roundRect">
            <a:avLst/>
          </a:prstGeom>
          <a:noFill/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28600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O0852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메인 셋업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파라미터 입력
입력값 검증
기계 설정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554480"/>
            <a:ext cx="2286000" cy="2743200"/>
          </a:xfrm>
          <a:prstGeom prst="roundRect">
            <a:avLst/>
          </a:prstGeom>
          <a:noFill/>
          <a:ln w="254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286000" cy="6400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O9001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메인 로직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길이/개수 계산
알람 체크
가공 시작 명령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286000" cy="2743200"/>
          </a:xfrm>
          <a:prstGeom prst="roundRec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28600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O9002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메인 가공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면삭 → 스텝절삭
챔퍼 → 절단
오토링크 반복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554480"/>
            <a:ext cx="2286000" cy="2743200"/>
          </a:xfrm>
          <a:prstGeom prst="roundRect">
            <a:avLst/>
          </a:prstGeom>
          <a:noFill/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1554480"/>
            <a:ext cx="228600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6276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O9003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93852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DDDFF"/>
                </a:solidFill>
                <a:latin typeface="맑은 고딕"/>
              </a:rPr>
              <a:t>잔재 가공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468880"/>
            <a:ext cx="19202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남은 소재 인출
척 길이 재설정
최종 가공 사이클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M98 P9001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M98 P9002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맑은 고딕"/>
              </a:rPr>
              <a:t>M98 P9003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사용 공구 정리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914400" y="5212080"/>
          <a:ext cx="10332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0175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공정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보링바 (내경 가공)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황삭, 정삭, 챔퍼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메인 가공 공구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 바이트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면삭, 절단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면삭 + 파팅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오토링크용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클램프/언클램프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3-1. 입력 파라미터 — 기본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작업자가 수정하는 변수 #101 ~ #108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맑은 고딕"/>
              </a:rPr>
              <a:t>이 영역만 작업자가 수정합니다 (Line 4~29)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103120"/>
                <a:gridCol w="45720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입력 규칙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끝자리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 ~ 99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백자리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0, 100, 200, 300, 400, 500만 가능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 길이 (물림 길이)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초기 면삭량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최대 40까지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종류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1=CN, 2=RS, 3=CM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가공 유형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3=챔퍼, 4=챔퍼(확장)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ON/OFF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0=OFF, 1=ON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단품 모드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1=한개씩 가공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소재 길이 계산법:  #101 + #102 = 전체 소재 길이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예시: #101=43, #102=500  →  500 + 43 = 543mm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3-2. 입력 파라미터 — 치수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완성품 규격 변수 #109 ~ #118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1371600"/>
                <a:gridCol w="164592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외경 (RAW 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내경 (RAW ID)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외경 (FIN OD)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64.90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내경 (FIN ID)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58.30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길이 (FIN LENGTH)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7.823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 바이트 폭 (TIP WIDTH)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2.02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내경 R (ID RADIUS)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외경 R (OD RADIUS)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내경 챔퍼 (ID CHAMFER)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외경 챔퍼 (OD CHAMFER)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0.60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길이&gt;40mm 확인 플래그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40초과 시 1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A4A"/>
                </a:solidFill>
                <a:latin typeface="맑은 고딕"/>
              </a:rPr>
              <a:t>부품 단면 개념도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286000"/>
            <a:ext cx="2560320" cy="256032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27432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02920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B82F6"/>
                </a:solidFill>
                <a:latin typeface="맑은 고딕"/>
              </a:rPr>
              <a:t>← OD: 64.90mm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34924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맑은 고딕"/>
              </a:rPr>
              <a:t>← ID: 58.30mm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66928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길이: 7.823mm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3-3. 입력 파라미터 — 절삭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#120 ~ #123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103120"/>
                <a:gridCol w="457200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 공구 RPM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보링바 회전수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T02 공구 RPM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1700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 바이트 회전수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인출 거리 (PULL DIST)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오토링크 시 소재 인출 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여유값 (MARGIN)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0~3 범위, 가공 마진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840480"/>
            <a:ext cx="11247120" cy="457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3E6B"/>
                </a:solidFill>
                <a:latin typeface="맑은 고딕"/>
              </a:rPr>
              <a:t>실제 이송속도(F) = RPM × Feed 계수  (소재별로 자동 계산됩니다)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4. 소재별 이송속도 자동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#105 소재 종류에 따라 이송 계수가 자동 결정됩니다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64592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소재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#124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(T01 황삭)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#125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(T01 스텝)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#126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(T01 챔퍼)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#127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(T02 절단)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F값 예시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(RPM=1700 기준)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CN (#105=1)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RS (#105=2)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CM (#105=3)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기타 (DEFAULT)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F255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맑은 고딕"/>
              </a:rPr>
              <a:t>이송속도 계산 공식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1">
                <a:solidFill>
                  <a:srgbClr val="3B82F6"/>
                </a:solidFill>
                <a:latin typeface="맑은 고딕"/>
              </a:rPr>
              <a:t>F값 = RPM × Feed 계수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맑은 고딕"/>
              </a:rPr>
              <a:t>예시 1) T01 CN소재 황삭:  F = 1700 × 0.15 = 255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맑은 고딕"/>
              </a:rPr>
              <a:t>예시 2) T01 CN소재 스텝:  F = 1700 × 0.12 = 204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A1A2E"/>
                </a:solidFill>
                <a:latin typeface="맑은 고딕"/>
              </a:rPr>
              <a:t>예시 3) T02 CN소재 절단:  F = 1700 × 0.09 = 153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RS 소재는 전체적으로 이송이 낮습니다 (경도가 높아 보수적 절삭)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5. 고급 설정 &amp; 안전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시스템 변수 #500 시리즈 — 작업자 수정 금지 구간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4444"/>
                </a:solidFill>
                <a:latin typeface="맑은 고딕"/>
              </a:rPr>
              <a:t>DANGER: STOP EDITING — 이 구간은 시스템 자동 설정입니다. 작업자 수정 금지!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9202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103120"/>
                <a:gridCol w="45720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안전 길이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 끝에서 안전거리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#531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 잔여 최소 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가공 후 최소 15mm 조(jaw) 물림 유지 (소재 이탈 방지)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척-투-죠 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척-죠 물리적 간격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Z축 황삭 최대 깊이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한 번에 가공할 최대 Z길이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Z축 황삭 여유 깊이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시 Z방향 여유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 노즈 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공구 끝 반경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황삭 간격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X방향 간격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챔퍼 간격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챔퍼 절삭 시 간격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FFF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RS40 / 소경(OD&lt;30mm) 안전 보정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RS40 소재 또는 외경 30mm 미만 → #129=15 (잔재보정 15mm 자동 추가, 강성 부족 대비)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6-1. 가공 사이클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O9002 메인 가공 프로세스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103120" cy="12801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좌표계 설정
G10 L2 P0 Z[#103]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1463040"/>
            <a:ext cx="2103120" cy="128016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면삭 (T02)
끝면 평삭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463040"/>
            <a:ext cx="2103120" cy="1280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스텝절삭 (T01)
황삭/정삭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1463040"/>
            <a:ext cx="2103120" cy="12801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챔퍼 (T01)
OD-R / ID-R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1463040"/>
            <a:ext cx="2103120" cy="1280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93808" y="1600200"/>
            <a:ext cx="1920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절단 (T02)
부품 분리 → M12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17373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맑은 고딕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17520"/>
            <a:ext cx="11430000" cy="4114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4495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B981"/>
                </a:solidFill>
                <a:latin typeface="맑은 고딕"/>
              </a:rPr>
              <a:t>↻ 개수(#517)만큼 반복  →  소재 부족 시 오토링크(N210)  →  면삭부터 재시작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주요 계산 변수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114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계산식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현재값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#505 = #113 + #114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1개당 가공 단위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9.843mm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#500 = #103 - #530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유효 가공 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63mm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#517 = FIX[#500/#505]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인출당 가공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#518 = #517 × #505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1회 총 가공 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59.058mm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#140 = #101+#102-#129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전체 소재 길이(보정)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543mm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6-2. 가공 상세 — 면삭 &amp; 스텝절삭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N100 면삭 → N130 스텝절삭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669280" cy="2560320"/>
          </a:xfrm>
          <a:prstGeom prst="roundRect">
            <a:avLst/>
          </a:prstGeom>
          <a:noFill/>
          <a:ln w="2540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5720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N100 면삭 (Face Cutting) — T02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1. G00 W3. T02     ← T02 공구 선택, Z+3 접근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2. X[#501]           ← X74(소재외경+4) 위치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3. Z0.                ← Z원점(워크 끝면)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4. G97 M03 S1700   ← 정속회전, 정회전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5. G98 G01 X[#502] ← X52.5까지 면삭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맑은 고딕"/>
              </a:rPr>
              <a:t>   F = 1700 × 0.09 = 153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6. G00 X[#111] T01 ← T01로 교환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00" cy="2560320"/>
          </a:xfrm>
          <a:prstGeom prst="roundRect">
            <a:avLst/>
          </a:prstGeom>
          <a:noFill/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N130 스텝절삭 (Step Cutting) — 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EF4444"/>
                </a:solidFill>
                <a:latin typeface="맑은 고딕"/>
              </a:rPr>
              <a:t>[황삭] #107=1일 때만 실행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X[#111+0.4] 위치에서 Z방향 직선절삭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맑은 고딕"/>
              </a:rPr>
              <a:t>F = 1700 × 0.15 = 255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맑은 고딕"/>
              </a:rPr>
              <a:t>[정삭] #106=3일 때 실행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X[#111] 완성외경에서 Z방향 정밀 절삭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맑은 고딕"/>
              </a:rPr>
              <a:t>F = 1700 × 0.12 = 204 mm/min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M[#134] 보링바 DOWN → G4 X.1 대기 → U0.2 빠짐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5669280" cy="2468880"/>
          </a:xfrm>
          <a:prstGeom prst="roundRect">
            <a:avLst/>
          </a:prstGeom>
          <a:noFill/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66928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4223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N160 챔퍼 가공 (Chamfer) — T01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3 (#106=3): 기본 챔퍼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완성외경 위치 → 챔퍼 시작점 접근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X[#111-(#510+#116)×2] : OD-R 가공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X[#111+(#510+#115)×2] : ID-R 가공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4 (#106=4): 확장 챔퍼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+ 보링바 UP/DOWN 추가 동작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+ 완성길이 위치에서 #118/#117 추가 챔퍼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14800"/>
            <a:ext cx="5486400" cy="2468880"/>
          </a:xfrm>
          <a:prstGeom prst="roundRect">
            <a:avLst/>
          </a:prstGeom>
          <a:noFill/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54864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4223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N180 절단 (Cutting) — T02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3: 챔퍼 동시 절단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Z[#118-#522] 위치 진입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X[#111] → U-[#118×2] W-[#118] 경사절삭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X[#504] 내경까지 관통 → M12 배출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TYPE 4: 직선 절단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Z-[#522] 위치에서 수직 진입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1A1A2E"/>
                </a:solidFill>
                <a:latin typeface="맑은 고딕"/>
              </a:rPr>
              <a:t>  X[#503] → X[#111] → X[#504] 관통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맑은 고딕"/>
              </a:rPr>
              <a:t>  M12 부품 배출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7. 오토링크 &amp; 잔재 가공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N210 자동 소재 인출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A4A"/>
                </a:solidFill>
                <a:latin typeface="맑은 고딕"/>
              </a:rPr>
              <a:t>오토링크 동작 순서 (N210)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297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04340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M05 스핀들 정지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297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안전을 위해 회전 정지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167128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0522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79828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G00 T03 → X0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20522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오토링크 공구 선택, 중심 이동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64261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8071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55316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Z[-#522+#122]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68071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인출 위치로 접근 (F200)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620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130804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M[#132] 오토로더 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15620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오토로더가 소재를 잡음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593592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3169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0629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M69 척 UNCLAMP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6316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척이 소재를 놓음 (2.5초 대기)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071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81780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W[가공길이+여유]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1071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소재를 앞으로 당김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4544568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826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57268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M68 척 CLAMP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5826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척이 소재를 다시 잡음 (2.5초 대기)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5020056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5815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032756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M[#131] 오토로더 OPEN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0581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오토로더 해제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5495544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3364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508244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A2E"/>
                </a:solidFill>
                <a:latin typeface="맑은 고딕"/>
              </a:rPr>
              <a:t>G00 Z100. → GOTO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53364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안전위치 복귀 → 면삭부터 재시작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20" y="1371600"/>
            <a:ext cx="4572000" cy="2286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146304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F4444"/>
                </a:solidFill>
                <a:latin typeface="맑은 고딕"/>
              </a:rPr>
              <a:t>안전 경고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192024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오토링크 동작 중에는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A1A2E"/>
                </a:solidFill>
                <a:latin typeface="맑은 고딕"/>
              </a:rPr>
              <a:t>척이 열리고 닫히는 구간이 있습니다.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EF4444"/>
                </a:solidFill>
                <a:latin typeface="맑은 고딕"/>
              </a:rPr>
              <a:t>이 구간에서 절대로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EF4444"/>
                </a:solidFill>
                <a:latin typeface="맑은 고딕"/>
              </a:rPr>
              <a:t>소재나 공구에 손대지 마세요!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대기 시간(G04)이 충분히 설정되어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맑은 고딕"/>
              </a:rPr>
              <a:t>있으므로 임의로 줄이지 마세요.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3931920"/>
            <a:ext cx="457200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402336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A4A"/>
                </a:solidFill>
                <a:latin typeface="맑은 고딕"/>
              </a:rPr>
              <a:t>O9003 잔재 가공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4805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오토링크 횟수를 모두 사용한 뒤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1A1A2E"/>
                </a:solidFill>
                <a:latin typeface="맑은 고딕"/>
              </a:rPr>
              <a:t>남은 소재를 처리하는 서브프로그램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1. 남은 소재 길이 계산 (#540)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2. 척 길이 재설정 (#103=#530+#540)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3. 좌표계 재설정 (G10 L2 P0)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4. 면삭→스텝→챔퍼→절단 반복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5. 완료 후 M99 리턴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8. 알람 코드표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에러 발생 시 알람 번호로 원인을 확인하세요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1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3657600"/>
                <a:gridCol w="3749039"/>
              </a:tblGrid>
              <a:tr h="39389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알람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조건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#140 &gt; 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580mm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#101, #102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 &lt; #111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외경 &lt; 완성 외경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#109, #111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#110 &gt; #112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내경 &gt; 완성 내경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#110, #112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#125 &gt;= 0.14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T01 스텝 이송 과대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소재종류(#105)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#102 단위 오류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100단위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0/100/200/300/400/500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#101 &gt; 99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끝자리 범위 초과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0~99로 수정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#140 &lt;= #103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부족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길이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#104 &gt; 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초기 면삭량 과대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#104를 40이하로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101~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변수 미입력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해당 변수가 -9999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해당 변수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OD &lt;= 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소재 외경 &lt;= 내경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#109, #110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FIN OD &lt;=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완성 외경 &lt;= 내경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#111, #112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TIP &gt;= FIN LEN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절단폭 &gt;= 완성길이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#114, #113 확인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9. 기계별 M코드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#130 기계번호에 따른 오토로더/보링바 M코드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기계번호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 OPEN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(#131)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 CLOSE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(#132)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BR UP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(#133)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BR DOWN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(#134)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HA-4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AL-10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HA-S3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HA-S4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M53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2C3E6B"/>
                </a:solidFill>
                <a:latin typeface="맑은 고딕"/>
              </a:rPr>
              <a:t>AL = Auto Loader (자동 소재 공급장치)  |  BR = Boring bar (보링바)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기계 변경 시 #130 값만 해당 번호로 수정하면 M코드가 자동 매핑됩니다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10. 작업자 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0BBDD"/>
                </a:solidFill>
                <a:latin typeface="맑은 고딕"/>
              </a:rPr>
              <a:t>안전 수칙 및 필수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669280" cy="2560320"/>
          </a:xfrm>
          <a:prstGeom prst="roundRect">
            <a:avLst/>
          </a:prstGeom>
          <a:noFill/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필수 확인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1. 수정 가능 영역: #101~#123만 수정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F4444"/>
                </a:solidFill>
                <a:latin typeface="맑은 고딕"/>
              </a:rPr>
              <a:t>   → DANGER 이후 구간은 절대 수정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2. #119 확인: 완성길이 &gt; 40mm → #119=1 필수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3. #102 입력: 0/100/200/300/400/500만 허용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4. #101 입력: 0~99 범위만 허용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5. 기계 변경 시 #130만 수정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00" cy="2560320"/>
          </a:xfrm>
          <a:prstGeom prst="roundRect">
            <a:avLst/>
          </a:prstGeom>
          <a:noFill/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4864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07592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안전 관련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1. 오토링크 중 개입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EF4444"/>
                </a:solidFill>
                <a:latin typeface="맑은 고딕"/>
              </a:rPr>
              <a:t>   척 개폐 중 소재/공구 접촉 금지!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2. RS40 소재: 안전보정 자동 적용 (15mm)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   강성 부족 대비, 임의 해제 금지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3. 소경 소재 (OD&lt;30mm): 동일 보정 적용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600" b="0">
                <a:solidFill>
                  <a:srgbClr val="1A1A2E"/>
                </a:solidFill>
                <a:latin typeface="맑은 고딕"/>
              </a:rPr>
              <a:t/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1A1A2E"/>
                </a:solidFill>
                <a:latin typeface="맑은 고딕"/>
              </a:rPr>
              <a:t>4. 알람 발생 시: 번호 확인 → 코드표 참조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맑은 고딕"/>
              </a:rPr>
              <a:t>   → 해당 변수 수정 후 재시작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11430000" cy="2468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B981"/>
                </a:solidFill>
                <a:latin typeface="맑은 고딕"/>
              </a:rPr>
              <a:t>가공 전 체크리스트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소재 종류(#105)와 실제 소재 일치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668520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93208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소재 외경/내경(#109,#110)과 실측값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144008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68696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완성 치수(#111~#118)와 도면 대조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619496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177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기계번호(#130)와 실제 기계 일치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668520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093208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RPM(#120,#121)이 소재/공구에 적합한지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144008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568696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A2E"/>
                </a:solidFill>
                <a:latin typeface="맑은 고딕"/>
              </a:rPr>
              <a:t>  첫 가공 시 단품모드(#108=1)로 시운전 권장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619496"/>
            <a:ext cx="201168" cy="201168"/>
          </a:xfrm>
          <a:prstGeom prst="round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O0852 프로그램 핵심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2000" b="0">
                <a:solidFill>
                  <a:srgbClr val="94A3B8"/>
                </a:solidFill>
                <a:latin typeface="맑은 고딕"/>
              </a:rPr>
              <a:t>파이프 소재 → 링형 부품 자동 연속 가공 매크로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72460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작업자는 #101~#123 변수만 수정 (소재, 치수, 조건)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47948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84448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소재 종류(CN/RS/CM)에 따라 이송속도 자동 설정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23435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59935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면삭 → 스텝절삭 → 챔퍼 → 절단 사이클 자동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98924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35424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소재 부족 시 오토링크로 자동 인출 후 재가공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74412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10912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30개 이상 알람으로 입력 오류/안전 문제 사전 차단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49900"/>
            <a:ext cx="274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맑은 고딕"/>
              </a:rPr>
              <a:t>9대 기계 M코드 자동 매핑 (#130 변경만으로 전환)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4748B"/>
                </a:solidFill>
                <a:latin typeface="맑은 고딕"/>
              </a:rPr>
              <a:t>질문이 있으시면 언제든 문의하세요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